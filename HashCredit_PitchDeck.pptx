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111111"/>
                </a:solidFill>
                <a:latin typeface="Arial"/>
              </a:rPr>
              <a:t>HashCredit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333333"/>
                </a:solidFill>
                <a:latin typeface="Arial"/>
              </a:rPr>
              <a:t>Working capital for Bitcoin miners, via mining pools.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840480"/>
            <a:ext cx="10543032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5555"/>
                </a:solidFill>
                <a:latin typeface="Arial"/>
              </a:rPr>
              <a:t>Pool-enforced repayment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5555"/>
                </a:solidFill>
                <a:latin typeface="Arial"/>
              </a:rPr>
              <a:t>SPV-proven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5555"/>
                </a:solidFill>
                <a:latin typeface="Arial"/>
              </a:rPr>
              <a:t>USDT on demand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303520"/>
            <a:ext cx="10543032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Arial"/>
              </a:rPr>
              <a:t>Built on HashKey Chain  ·  DeFi Track  ·  Live on Testnet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73152" cy="59436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7931A"/>
                </a:solidFill>
                <a:latin typeface="Arial"/>
              </a:rPr>
              <a:t>01 —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43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11111"/>
                </a:solidFill>
                <a:latin typeface="Arial"/>
              </a:rPr>
              <a:t>$17B in annual mining revenue.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7931A"/>
                </a:solidFill>
                <a:latin typeface="Arial"/>
              </a:rPr>
              <a:t>Zero ways to borrow against it on-chain.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Arial"/>
              </a:rPr>
              <a:t>Miners pay for electricity, hardware, and facilities in fiat — but earn in BTC.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68880"/>
            <a:ext cx="10543032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3333"/>
                </a:solidFill>
                <a:latin typeface="Arial"/>
              </a:rPr>
              <a:t>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Arial"/>
              </a:rPr>
              <a:t>Lock up your BTC?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Ledn / SALT — 7–12% APR, requires BTC collateral lockup.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290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3333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429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Arial"/>
              </a:rPr>
              <a:t>Pledge your ASICs?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Luxor Finance — over-collateralized, institutional-only.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148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3333"/>
                </a:solidFill>
                <a:latin typeface="Arial"/>
              </a:rPr>
              <a:t>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114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Arial"/>
              </a:rPr>
              <a:t>Raise equity?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Dilutive, takes months.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006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3333"/>
                </a:solidFill>
                <a:latin typeface="Arial"/>
              </a:rPr>
              <a:t>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00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Arial"/>
              </a:rPr>
              <a:t>Revenue-based off-chain?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800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No pool enforcement, no on-chain verifiability.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097280"/>
            <a:ext cx="256032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12344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7931A"/>
                </a:solidFill>
                <a:latin typeface="Arial"/>
              </a:rPr>
              <a:t>$17.2B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Arial"/>
              </a:rPr>
              <a:t>Annual BTC miner revenue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2651760"/>
            <a:ext cx="256032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27889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7931A"/>
                </a:solidFill>
                <a:latin typeface="Arial"/>
              </a:rPr>
              <a:t>$11B+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337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Arial"/>
              </a:rPr>
              <a:t>Mining debt since 2023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4206240"/>
            <a:ext cx="256032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43434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7931A"/>
                </a:solidFill>
                <a:latin typeface="Arial"/>
              </a:rPr>
              <a:t>1,200+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4892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  <a:latin typeface="Arial"/>
              </a:rPr>
              <a:t>Days avg hardware ROI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73152" cy="59436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7931A"/>
                </a:solidFill>
                <a:latin typeface="Arial"/>
              </a:rPr>
              <a:t>02 — 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43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11111"/>
                </a:solidFill>
                <a:latin typeface="Arial"/>
              </a:rPr>
              <a:t>$17.2B TAM — targeting where the need is greatest.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Arial"/>
              </a:rPr>
              <a:t>Mid-market miners: 30–40% of global hashrate. Too small for capital markets, too big for personal credit.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10543032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329184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7931A"/>
                </a:solidFill>
                <a:latin typeface="Arial"/>
              </a:rPr>
              <a:t>$17.2B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29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Global BTC miner annual revenue (2025)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2377440"/>
            <a:ext cx="329184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560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$1.7B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SAM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429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10% market penetration, mid-market focus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377440"/>
            <a:ext cx="329184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560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$136M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SOM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429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Protocol revenue at 8% APR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572000"/>
            <a:ext cx="10543032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Arial"/>
              </a:rPr>
              <a:t>LP opportunity: USDT depositors earn 8% APR — 2–3× standard DeFi rates (Aave USDT ~3–4%), backed by SPV-proven revenue.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035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Arial"/>
              </a:rPr>
              <a:t>Sources: The Block, Precedence Research, DeFi Llama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73152" cy="59436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7931A"/>
                </a:solidFill>
                <a:latin typeface="Arial"/>
              </a:rPr>
              <a:t>03 — KEY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You can't prove hashrate directly —
it's a physical rate.
But you can prove its output.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017520"/>
            <a:ext cx="10543032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Arial"/>
              </a:rPr>
              <a:t>Every pool payout is a Bitcoin transaction proportional to contributed hash power. It's timestamped, immutable, and verifiable by anyone with block headers.
Payout history is the hashrate record — and SPV turns it into trustless on-chain evidence.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074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5555"/>
                </a:solidFill>
                <a:latin typeface="Arial"/>
              </a:rPr>
              <a:t>Stripe Capital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49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Arial"/>
              </a:rPr>
              <a:t>Self-reported revenue through their platform.
Trust-based.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074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931A"/>
                </a:solidFill>
                <a:latin typeface="Arial"/>
              </a:rPr>
              <a:t>HashCredit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5349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Bitcoin payout verified by proof-of-work.
Math-based.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73152" cy="59436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7931A"/>
                </a:solidFill>
                <a:latin typeface="Arial"/>
              </a:rPr>
              <a:t>04 —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43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11111"/>
                </a:solidFill>
                <a:latin typeface="Arial"/>
              </a:rPr>
              <a:t>Verified Bitcoin payouts → revolving USDT credit 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Arial"/>
              </a:rPr>
              <a:t>Pool payout  →  SPV proof  →  Credit limit update  →  Draw USDT  →  Pool auto-withholds repayment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10543032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54864" cy="54864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Arial"/>
              </a:rPr>
              <a:t>No BTC lockup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4688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Mine through your registered pool — no collateral required.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172968"/>
            <a:ext cx="54864" cy="54864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1272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Arial"/>
              </a:rPr>
              <a:t>Real-time credit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12724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Credit limit adjusts automatically with each verified payout.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831336"/>
            <a:ext cx="54864" cy="54864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7856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Arial"/>
              </a:rPr>
              <a:t>Auto-repayment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785616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Pool withholds a percentage of each subsequent payout.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489704"/>
            <a:ext cx="54864" cy="54864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439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Arial"/>
              </a:rPr>
              <a:t>Fully on-chain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44398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Every step auditable. No intermediary.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148072"/>
            <a:ext cx="54864" cy="54864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1023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Arial"/>
              </a:rPr>
              <a:t>Modular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51023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IVerifierAdapter — swap proof sources without touching credit logic.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760720"/>
            <a:ext cx="10543032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8338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333333"/>
                </a:solidFill>
                <a:latin typeface="Arial"/>
              </a:rPr>
              <a:t>"Stripe Capital for Bitcoin miners — but trustless, and pool-enforced."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73152" cy="59436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7931A"/>
                </a:solidFill>
                <a:latin typeface="Arial"/>
              </a:rPr>
              <a:t>05 —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43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11111"/>
                </a:solidFill>
                <a:latin typeface="Arial"/>
              </a:rPr>
              <a:t>Seven steps. Fully automated.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457200" cy="4572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Arial"/>
              </a:rPr>
              <a:t>Pool registers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600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Agrees to withhold repayment from payouts.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221992"/>
            <a:ext cx="457200" cy="4572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677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677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Arial"/>
              </a:rPr>
              <a:t>Miner gets paid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26771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Bitcoin transaction from pool to miner address.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889504"/>
            <a:ext cx="457200" cy="4572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9352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9352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Arial"/>
              </a:rPr>
              <a:t>Worker detects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93522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Off-chain worker monitors BTC addresses.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557016"/>
            <a:ext cx="457200" cy="4572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60273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60273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Arial"/>
              </a:rPr>
              <a:t>SPV proof built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60273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Headers + Merkle inclusion + tx output.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224528"/>
            <a:ext cx="457200" cy="4572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2702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270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Arial"/>
              </a:rPr>
              <a:t>On-chain 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42702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PoW check + Merkle check + output script match.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892040"/>
            <a:ext cx="457200" cy="4572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937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937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Arial"/>
              </a:rPr>
              <a:t>Credit updates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4937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Trailing-window credit limit recalculated.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5559552"/>
            <a:ext cx="457200" cy="4572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605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6052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Arial"/>
              </a:rPr>
              <a:t>Draw / Repay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56052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Miner draws USDT. Pool withholds from next payout.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6217920"/>
            <a:ext cx="10543032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6309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Arial"/>
              </a:rPr>
              <a:t>Default enforcement: pool redirects miner's hashrate. No courts. Pure economic enforcement.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73152" cy="59436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7931A"/>
                </a:solidFill>
                <a:latin typeface="Arial"/>
              </a:rPr>
              <a:t>06 —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43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11111"/>
                </a:solidFill>
                <a:latin typeface="Arial"/>
              </a:rPr>
              <a:t>Three revenue streams.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10543032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54864" cy="54864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Interest spread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7373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Borrowers pay 10% APR → LPs earn 8% → protocol keeps 2% spread.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514600"/>
            <a:ext cx="54864" cy="54864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Origination fee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4688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0.5% per drawdown.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246120"/>
            <a:ext cx="54864" cy="54864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Pool withholding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2004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Automatic repayment via pool — zero collection cost.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023360"/>
            <a:ext cx="10543032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97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LP Yield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63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99999"/>
                </a:solidFill>
                <a:latin typeface="Arial"/>
              </a:rPr>
              <a:t>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663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99999"/>
                </a:solidFill>
                <a:latin typeface="Arial"/>
              </a:rPr>
              <a:t>APR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99999"/>
                </a:solidFill>
                <a:latin typeface="Arial"/>
              </a:rPr>
              <a:t>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474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Aave USDT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50474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3–4%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0474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Overcollateral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315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Curve stables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54315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5–7%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54315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Overcollateral + slippage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8155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931A"/>
                </a:solidFill>
                <a:latin typeface="Arial"/>
              </a:rPr>
              <a:t>HashCredit LP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58155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931A"/>
                </a:solidFill>
                <a:latin typeface="Arial"/>
              </a:rPr>
              <a:t>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58155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931A"/>
                </a:solidFill>
                <a:latin typeface="Arial"/>
              </a:rPr>
              <a:t>SPV-proven revenue + pool withholding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73152" cy="59436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7931A"/>
                </a:solidFill>
                <a:latin typeface="Arial"/>
              </a:rPr>
              <a:t>07 — 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43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11111"/>
                </a:solidFill>
                <a:latin typeface="Arial"/>
              </a:rPr>
              <a:t>It works today. End-to-end on testnet.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10543032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8855"/>
                </a:solidFill>
                <a:latin typeface="Arial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37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Arial"/>
              </a:rPr>
              <a:t>7 production smart contracts live on HashKey Chain testnet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8855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286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Arial"/>
              </a:rPr>
              <a:t>SPV proofs generated from real Bitcoin testnet transactions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8855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834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Arial"/>
              </a:rPr>
              <a:t>Full borrow/repay lifecycle operational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832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8855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383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Arial"/>
              </a:rPr>
              <a:t>Automated prover worker running 24/7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31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8855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931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Arial"/>
              </a:rPr>
              <a:t>Frontend dashboard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80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8855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4805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Arial"/>
              </a:rPr>
              <a:t>Test suite: unit, integration, invariant fuzzing, gas profiling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292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8855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029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111"/>
                </a:solidFill>
                <a:latin typeface="Arial"/>
              </a:rPr>
              <a:t>Modular IVerifierAdapter — proof source is pluggable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760720"/>
            <a:ext cx="10543032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897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Arial"/>
              </a:rPr>
              <a:t>HashKey Chain Testnet · chainId 133 · Verifiable 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73152" cy="59436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7931A"/>
                </a:solidFill>
                <a:latin typeface="Arial"/>
              </a:rPr>
              <a:t>08 —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43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11111"/>
                </a:solidFill>
                <a:latin typeface="Arial"/>
              </a:rPr>
              <a:t>Structural demand. No incumbent.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10543032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10543032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Halving (2024)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Block reward → 3.125 BTC. Revenue per hash is down. Working capital matters more.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743200"/>
            <a:ext cx="10543032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Hashrate at 1 ZH/s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546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Hardware ROI now exceeds 1,200 days. Miners can't afford to wait.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749040"/>
            <a:ext cx="10543032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840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Treasury drawdowns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1605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Public miners sold 5,359 BTC in Dec 2025 alone to stay liquid.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754880"/>
            <a:ext cx="10543032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No incumbent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1663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Trustless BTC proof + pool-enforced repayment — nobody else is doing this.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73152" cy="59436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7931A"/>
                </a:solidFill>
                <a:latin typeface="Arial"/>
              </a:rPr>
              <a:t>09 — COMPETITIVE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43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11111"/>
                </a:solidFill>
                <a:latin typeface="Arial"/>
              </a:rPr>
              <a:t>Cryptographic proof, not trust. Pool-enforced, not manual.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10543032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99999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7373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99999"/>
                </a:solidFill>
                <a:latin typeface="Arial"/>
              </a:rPr>
              <a:t>HashCredit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7373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99999"/>
                </a:solidFill>
                <a:latin typeface="Arial"/>
              </a:rPr>
              <a:t>Everyone else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148840"/>
            <a:ext cx="10543032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  <a:latin typeface="Arial"/>
              </a:rPr>
              <a:t>Collateral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194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931A"/>
                </a:solidFill>
                <a:latin typeface="Arial"/>
              </a:rPr>
              <a:t>None — revenue-proven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194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BTC, ASICs, or financials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  <a:latin typeface="Arial"/>
              </a:rPr>
              <a:t>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926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931A"/>
                </a:solidFill>
                <a:latin typeface="Arial"/>
              </a:rPr>
              <a:t>SPV proof — pure math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926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Oracle, custodian, or manual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611880"/>
            <a:ext cx="10543032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657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  <a:latin typeface="Arial"/>
              </a:rPr>
              <a:t>Repayment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657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931A"/>
                </a:solidFill>
                <a:latin typeface="Arial"/>
              </a:rPr>
              <a:t>Automatic — pool withholds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657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Manual, trust-dependent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89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  <a:latin typeface="Arial"/>
              </a:rPr>
              <a:t>Speed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389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931A"/>
                </a:solidFill>
                <a:latin typeface="Arial"/>
              </a:rPr>
              <a:t>Instant — auto-updating credit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389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Days to weeks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5074920"/>
            <a:ext cx="10543032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120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111"/>
                </a:solidFill>
                <a:latin typeface="Arial"/>
              </a:rPr>
              <a:t>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120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931A"/>
                </a:solidFill>
                <a:latin typeface="Arial"/>
              </a:rPr>
              <a:t>Permissionless via pool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5120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KYC, minimums, gatekeeping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5943600"/>
            <a:ext cx="10543032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6080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Same trust model Bitcoin itself has used since 2009. No oracle to bribe. No custodian to trust.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73152" cy="59436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7931A"/>
                </a:solidFill>
                <a:latin typeface="Arial"/>
              </a:rPr>
              <a:t>10 —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43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11111"/>
                </a:solidFill>
                <a:latin typeface="Arial"/>
              </a:rPr>
              <a:t>From testnet to $5M TVL in 12 months.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10543032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938528"/>
            <a:ext cx="128016" cy="128016"/>
          </a:xfrm>
          <a:prstGeom prst="rect">
            <a:avLst/>
          </a:prstGeom>
          <a:solidFill>
            <a:srgbClr val="22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2144" y="2103120"/>
            <a:ext cx="18288" cy="77724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828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Arial"/>
              </a:rPr>
              <a:t>Q1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828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8855"/>
                </a:solidFill>
                <a:latin typeface="Arial"/>
              </a:rPr>
              <a:t>Complete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48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7 contracts, SPV verifier, frontend, full lifecycle on testnet.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990088"/>
            <a:ext cx="128016" cy="128016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52144" y="3154680"/>
            <a:ext cx="18288" cy="77724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2880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Arial"/>
              </a:rPr>
              <a:t>Q2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880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931A"/>
                </a:solidFill>
                <a:latin typeface="Arial"/>
              </a:rPr>
              <a:t>In Progress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04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Security audit, HashKey Chain mainnet, 10 pilot miners.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4041648"/>
            <a:ext cx="128016" cy="128016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52144" y="4206240"/>
            <a:ext cx="18288" cy="77724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3931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Arial"/>
              </a:rPr>
              <a:t>Q3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931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931A"/>
                </a:solidFill>
                <a:latin typeface="Arial"/>
              </a:rPr>
              <a:t>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2519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50 miners, $500K TVL, mining pool API partnerships.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5093208"/>
            <a:ext cx="128016" cy="128016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" y="4983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Arial"/>
              </a:rPr>
              <a:t>Q4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983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931A"/>
                </a:solidFill>
                <a:latin typeface="Arial"/>
              </a:rPr>
              <a:t>Vision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3035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$5M TVL, 200+ miners, cross-chain oracle adapter.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73152" cy="59436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7931A"/>
                </a:solidFill>
                <a:latin typeface="Arial"/>
              </a:rPr>
              <a:t>11 —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43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11111"/>
                </a:solidFill>
                <a:latin typeface="Arial"/>
              </a:rPr>
              <a:t>Built by engineers who understand both Bitcoin and DeFi.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10543032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10515600" cy="1920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111"/>
                </a:solidFill>
                <a:latin typeface="Arial"/>
              </a:rPr>
              <a:t>Incheol Yang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931A"/>
                </a:solidFill>
                <a:latin typeface="Arial"/>
              </a:rPr>
              <a:t>Co-Founder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011680"/>
            <a:ext cx="7315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Co-founded a DeFi system trading house, managed $20M AUM at 40%+ APR.
Previously at KRAFTON (PUBG) and Coinone Exchange building trading infrastructure.
Full-stack protocol design: SPV verifier, credit engine, vault, frontend.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14800"/>
            <a:ext cx="10515600" cy="1920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111"/>
                </a:solidFill>
                <a:latin typeface="Arial"/>
              </a:rPr>
              <a:t>Juhyeong Park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09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931A"/>
                </a:solidFill>
                <a:latin typeface="Arial"/>
              </a:rPr>
              <a:t>Co-Founder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297680"/>
            <a:ext cx="7315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CTO of Onther — led a mainnet to $750M market cap.
Designed Plasma EVM. Smart contract audits and full-stack Solidity architecture.
Core contract engineering: HashCreditManager, LendingVault, RiskConfig.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73152" cy="59436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7931A"/>
                </a:solidFill>
                <a:latin typeface="Arial"/>
              </a:rPr>
              <a:t>12 — WHY HASHKEY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43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11111"/>
                </a:solidFill>
                <a:latin typeface="Arial"/>
              </a:rPr>
              <a:t>Mining-revenue lending needs more than an EVM chain.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10543032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10543032" cy="1143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470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7931A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74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Compliance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194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Pool withholding requires contractual + legal framework. HashKey Group (SFC-licensed HK) provides identity tooling, KYC, and legal enforceability.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154680"/>
            <a:ext cx="10543032" cy="1143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64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7931A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291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Ecosystem as distribution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611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HashKey Exchange → fiat on/off-ramp + USDT liquidity. HashKey Capital → mining operator introductions. Hong Kong → center of Asia-Pacific hashrate (~30% of global).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572000"/>
            <a:ext cx="10543032" cy="1143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6817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7931A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709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Full EVM precompile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ecrecover + sha256 + ripemd160 enable trustless on-chain BTC address verification. HashKey Chain (OP Stack) supports all standard precompiles natively. No oracle. No bridge.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73152" cy="59436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7931A"/>
                </a:solidFill>
                <a:latin typeface="Arial"/>
              </a:rPr>
              <a:t>13 — 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43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11111"/>
                </a:solidFill>
                <a:latin typeface="Arial"/>
              </a:rPr>
              <a:t>Raising $250K Seed.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Arial"/>
              </a:rPr>
              <a:t>Revenue-based financing for Bitcoin miners — trustless, pool-enforced, production-ready.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10543032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Use of funds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931A"/>
                </a:solidFill>
                <a:latin typeface="Arial"/>
              </a:rPr>
              <a:t>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834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Engineering + mainnet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375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931A"/>
                </a:solidFill>
                <a:latin typeface="Arial"/>
              </a:rPr>
              <a:t>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337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Security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931A"/>
                </a:solidFill>
                <a:latin typeface="Arial"/>
              </a:rPr>
              <a:t>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840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LP seed liquidity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434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931A"/>
                </a:solidFill>
                <a:latin typeface="Arial"/>
              </a:rP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343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Mining pool partnerships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This round delivers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834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931A"/>
                </a:solidFill>
                <a:latin typeface="Arial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Security audit completed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3375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931A"/>
                </a:solidFill>
                <a:latin typeface="Arial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337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HashKey Chain mainnet 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840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931A"/>
                </a:solidFill>
                <a:latin typeface="Arial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50 pilot miners onboarded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3434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931A"/>
                </a:solidFill>
                <a:latin typeface="Arial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343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Arial"/>
              </a:rPr>
              <a:t>$500K TVL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5029200"/>
            <a:ext cx="10543032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From HashKey ecosystem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5778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Technical partnership + infrastructure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8338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HashKey Capital — investment + mining operator introductions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60899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HashKey Exchange — USDT liquidity integration + fiat on/off-ramp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634593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Compliance guidance — cross-jurisdictional pool withholding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66019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Arial"/>
              </a:rPr>
              <a:t>Post-hackathon incubation + ecosystem resource support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F79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11111"/>
                </a:solidFill>
                <a:latin typeface="Arial"/>
              </a:rPr>
              <a:t>Thank you.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200400"/>
            <a:ext cx="10543032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474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3474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7931A"/>
                </a:solidFill>
                <a:latin typeface="Arial"/>
              </a:rPr>
              <a:t>github.com/inchyangv/ctc-hashcredit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Live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931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7931A"/>
                </a:solidFill>
                <a:latin typeface="Arial"/>
              </a:rPr>
              <a:t>hashcredit.studioliq.com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Contact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389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7931A"/>
                </a:solidFill>
                <a:latin typeface="Arial"/>
              </a:rPr>
              <a:t>inch@studioliq.com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669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Arial"/>
              </a:rPr>
              <a:t>HashKey Chain Testnet · chainId 133 · DeFi Track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1672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99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